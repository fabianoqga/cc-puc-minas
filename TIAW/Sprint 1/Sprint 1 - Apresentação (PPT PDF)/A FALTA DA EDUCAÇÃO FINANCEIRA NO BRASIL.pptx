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Amatic SC"/>
      <p:regular r:id="rId15"/>
      <p:bold r:id="rId16"/>
    </p:embeddedFont>
    <p:embeddedFont>
      <p:font typeface="Annie Use Your Telescope"/>
      <p:regular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maticSC-regular.fntdata"/><Relationship Id="rId14" Type="http://schemas.openxmlformats.org/officeDocument/2006/relationships/slide" Target="slides/slide9.xml"/><Relationship Id="rId17" Type="http://schemas.openxmlformats.org/officeDocument/2006/relationships/font" Target="fonts/AnnieUseYourTelescope-regular.fntdata"/><Relationship Id="rId16" Type="http://schemas.openxmlformats.org/officeDocument/2006/relationships/font" Target="fonts/AmaticSC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2455cae57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2455cae57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2455cae57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2455cae57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2455cae57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2455cae57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2455cae57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2455cae57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21f3812c1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21f3812c1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21f3812c1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21f3812c1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2455cae57b_2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12455cae57b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21f3812c1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21f3812c1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21.png"/><Relationship Id="rId6" Type="http://schemas.openxmlformats.org/officeDocument/2006/relationships/image" Target="../media/image6.png"/><Relationship Id="rId7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AA84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26496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0" y="376525"/>
            <a:ext cx="62394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000">
                <a:solidFill>
                  <a:srgbClr val="B6D7A8"/>
                </a:solidFill>
                <a:latin typeface="Annie Use Your Telescope"/>
                <a:ea typeface="Annie Use Your Telescope"/>
                <a:cs typeface="Annie Use Your Telescope"/>
                <a:sym typeface="Annie Use Your Telescope"/>
              </a:rPr>
              <a:t>A FALTA DA EDUCAÇÃO FINANCEIRA NO BRASIL</a:t>
            </a:r>
            <a:endParaRPr b="1" sz="200">
              <a:solidFill>
                <a:srgbClr val="B6D7A8"/>
              </a:solidFill>
              <a:latin typeface="Annie Use Your Telescope"/>
              <a:ea typeface="Annie Use Your Telescope"/>
              <a:cs typeface="Annie Use Your Telescope"/>
              <a:sym typeface="Annie Use Your Telescope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65100" y="2586900"/>
            <a:ext cx="5804100" cy="24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100">
                <a:latin typeface="Amatic SC"/>
                <a:ea typeface="Amatic SC"/>
                <a:cs typeface="Amatic SC"/>
                <a:sym typeface="Amatic SC"/>
              </a:rPr>
              <a:t>Nome dos integrantes:</a:t>
            </a:r>
            <a:endParaRPr sz="2100">
              <a:latin typeface="Amatic SC"/>
              <a:ea typeface="Amatic SC"/>
              <a:cs typeface="Amatic SC"/>
              <a:sym typeface="Amatic SC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Amatic SC"/>
              <a:buChar char="●"/>
            </a:pPr>
            <a:r>
              <a:rPr b="1" lang="pt-BR" sz="2100">
                <a:latin typeface="Amatic SC"/>
                <a:ea typeface="Amatic SC"/>
                <a:cs typeface="Amatic SC"/>
                <a:sym typeface="Amatic SC"/>
              </a:rPr>
              <a:t>Caio Ronan Horta</a:t>
            </a:r>
            <a:endParaRPr b="1" sz="2100">
              <a:latin typeface="Amatic SC"/>
              <a:ea typeface="Amatic SC"/>
              <a:cs typeface="Amatic SC"/>
              <a:sym typeface="Amatic SC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Amatic SC"/>
              <a:buChar char="●"/>
            </a:pPr>
            <a:r>
              <a:rPr b="1" lang="pt-BR" sz="2100">
                <a:latin typeface="Amatic SC"/>
                <a:ea typeface="Amatic SC"/>
                <a:cs typeface="Amatic SC"/>
                <a:sym typeface="Amatic SC"/>
              </a:rPr>
              <a:t>Eishila Beatriz dos Santos</a:t>
            </a:r>
            <a:endParaRPr b="1" sz="2100">
              <a:latin typeface="Amatic SC"/>
              <a:ea typeface="Amatic SC"/>
              <a:cs typeface="Amatic SC"/>
              <a:sym typeface="Amatic SC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Amatic SC"/>
              <a:buChar char="●"/>
            </a:pPr>
            <a:r>
              <a:rPr b="1" lang="pt-BR" sz="2100">
                <a:latin typeface="Amatic SC"/>
                <a:ea typeface="Amatic SC"/>
                <a:cs typeface="Amatic SC"/>
                <a:sym typeface="Amatic SC"/>
              </a:rPr>
              <a:t>Lucas Andrade Feres</a:t>
            </a:r>
            <a:endParaRPr b="1" sz="2100">
              <a:latin typeface="Amatic SC"/>
              <a:ea typeface="Amatic SC"/>
              <a:cs typeface="Amatic SC"/>
              <a:sym typeface="Amatic SC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Amatic SC"/>
              <a:buChar char="●"/>
            </a:pPr>
            <a:r>
              <a:rPr b="1" lang="pt-BR" sz="2100">
                <a:latin typeface="Amatic SC"/>
                <a:ea typeface="Amatic SC"/>
                <a:cs typeface="Amatic SC"/>
                <a:sym typeface="Amatic SC"/>
              </a:rPr>
              <a:t>Brayan Mendes de Carvalho</a:t>
            </a:r>
            <a:endParaRPr b="1" sz="2100">
              <a:latin typeface="Amatic SC"/>
              <a:ea typeface="Amatic SC"/>
              <a:cs typeface="Amatic SC"/>
              <a:sym typeface="Amatic SC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Amatic SC"/>
              <a:buChar char="●"/>
            </a:pPr>
            <a:r>
              <a:rPr b="1" lang="pt-BR" sz="2100">
                <a:latin typeface="Amatic SC"/>
                <a:ea typeface="Amatic SC"/>
                <a:cs typeface="Amatic SC"/>
                <a:sym typeface="Amatic SC"/>
              </a:rPr>
              <a:t>Fabiano Queiroz Guimarães Almeida</a:t>
            </a:r>
            <a:endParaRPr b="1" sz="2100">
              <a:latin typeface="Amatic SC"/>
              <a:ea typeface="Amatic SC"/>
              <a:cs typeface="Amatic SC"/>
              <a:sym typeface="Amatic SC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Amatic SC"/>
              <a:buChar char="●"/>
            </a:pPr>
            <a:r>
              <a:rPr b="1" lang="pt-BR" sz="2100">
                <a:latin typeface="Amatic SC"/>
                <a:ea typeface="Amatic SC"/>
                <a:cs typeface="Amatic SC"/>
                <a:sym typeface="Amatic SC"/>
              </a:rPr>
              <a:t>João Gabriel Dias</a:t>
            </a:r>
            <a:endParaRPr b="1" sz="2100">
              <a:latin typeface="Amatic SC"/>
              <a:ea typeface="Amatic SC"/>
              <a:cs typeface="Amatic SC"/>
              <a:sym typeface="Amatic SC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6950" y="3145100"/>
            <a:ext cx="1532211" cy="14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25725" y="162400"/>
            <a:ext cx="364975" cy="36497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/>
          <p:nvPr/>
        </p:nvSpPr>
        <p:spPr>
          <a:xfrm>
            <a:off x="5202863" y="3475500"/>
            <a:ext cx="450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/>
              <a:t>+</a:t>
            </a:r>
            <a:endParaRPr b="1" sz="3000"/>
          </a:p>
        </p:txBody>
      </p:sp>
      <p:pic>
        <p:nvPicPr>
          <p:cNvPr id="60" name="Google Shape;60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7188" y="3145100"/>
            <a:ext cx="1532211" cy="14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/>
          <p:nvPr/>
        </p:nvSpPr>
        <p:spPr>
          <a:xfrm>
            <a:off x="7390688" y="3475500"/>
            <a:ext cx="645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/>
              <a:t>=</a:t>
            </a:r>
            <a:endParaRPr b="1" sz="3000"/>
          </a:p>
        </p:txBody>
      </p:sp>
      <p:pic>
        <p:nvPicPr>
          <p:cNvPr id="62" name="Google Shape;62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69900" y="3116050"/>
            <a:ext cx="1474100" cy="147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AA84F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/>
          <p:nvPr/>
        </p:nvSpPr>
        <p:spPr>
          <a:xfrm>
            <a:off x="4950" y="2571750"/>
            <a:ext cx="9144000" cy="2571900"/>
          </a:xfrm>
          <a:prstGeom prst="rect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 txBox="1"/>
          <p:nvPr>
            <p:ph type="title"/>
          </p:nvPr>
        </p:nvSpPr>
        <p:spPr>
          <a:xfrm>
            <a:off x="80575" y="383525"/>
            <a:ext cx="4866300" cy="5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i="1" lang="pt-BR" sz="4000">
                <a:latin typeface="Annie Use Your Telescope"/>
                <a:ea typeface="Annie Use Your Telescope"/>
                <a:cs typeface="Annie Use Your Telescope"/>
                <a:sym typeface="Annie Use Your Telescope"/>
              </a:rPr>
              <a:t>Contexto do Problema</a:t>
            </a:r>
            <a:endParaRPr b="1" i="1" sz="4000">
              <a:latin typeface="Annie Use Your Telescope"/>
              <a:ea typeface="Annie Use Your Telescope"/>
              <a:cs typeface="Annie Use Your Telescope"/>
              <a:sym typeface="Annie Use Your Telescope"/>
            </a:endParaRPr>
          </a:p>
        </p:txBody>
      </p:sp>
      <p:pic>
        <p:nvPicPr>
          <p:cNvPr id="69" name="Google Shape;6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7525" y="316375"/>
            <a:ext cx="3000000" cy="1996369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0" name="Google Shape;70;p14"/>
          <p:cNvSpPr txBox="1"/>
          <p:nvPr/>
        </p:nvSpPr>
        <p:spPr>
          <a:xfrm>
            <a:off x="5281825" y="2840350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4000">
                <a:solidFill>
                  <a:schemeClr val="dk1"/>
                </a:solidFill>
                <a:latin typeface="Annie Use Your Telescope"/>
                <a:ea typeface="Annie Use Your Telescope"/>
                <a:cs typeface="Annie Use Your Telescope"/>
                <a:sym typeface="Annie Use Your Telescope"/>
              </a:rPr>
              <a:t>Público Alvo</a:t>
            </a:r>
            <a:endParaRPr b="1" i="1" sz="4000">
              <a:solidFill>
                <a:schemeClr val="dk1"/>
              </a:solidFill>
              <a:latin typeface="Annie Use Your Telescope"/>
              <a:ea typeface="Annie Use Your Telescope"/>
              <a:cs typeface="Annie Use Your Telescope"/>
              <a:sym typeface="Annie Use Your Telescope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5231125" y="3770125"/>
            <a:ext cx="3101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Jovens/Adultos de 17 á 25 anos</a:t>
            </a:r>
            <a:endParaRPr sz="1600"/>
          </a:p>
        </p:txBody>
      </p:sp>
      <p:sp>
        <p:nvSpPr>
          <p:cNvPr id="72" name="Google Shape;72;p14"/>
          <p:cNvSpPr txBox="1"/>
          <p:nvPr/>
        </p:nvSpPr>
        <p:spPr>
          <a:xfrm>
            <a:off x="80575" y="1117800"/>
            <a:ext cx="48663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O Brasil está </a:t>
            </a:r>
            <a:r>
              <a:rPr lang="pt-BR" sz="1500"/>
              <a:t>atrasado</a:t>
            </a:r>
            <a:r>
              <a:rPr lang="pt-BR" sz="1500"/>
              <a:t> com relação a educação financeira. Muitas pessoas não sabem lidar com suas finanças e muito menos economizar, por esses motivo grande parte das pessoas estão </a:t>
            </a:r>
            <a:r>
              <a:rPr lang="pt-BR" sz="1500"/>
              <a:t>endividadas</a:t>
            </a:r>
            <a:r>
              <a:rPr lang="pt-BR" sz="1500"/>
              <a:t> e em situações complicadas.</a:t>
            </a:r>
            <a:endParaRPr sz="1500"/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6025" y="2770863"/>
            <a:ext cx="3000000" cy="2173666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74" name="Google Shape;74;p14"/>
          <p:cNvCxnSpPr/>
          <p:nvPr/>
        </p:nvCxnSpPr>
        <p:spPr>
          <a:xfrm>
            <a:off x="-25" y="-26850"/>
            <a:ext cx="0" cy="519720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AA84F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/>
          <p:nvPr/>
        </p:nvSpPr>
        <p:spPr>
          <a:xfrm>
            <a:off x="5041050" y="0"/>
            <a:ext cx="4107900" cy="5143500"/>
          </a:xfrm>
          <a:prstGeom prst="rect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7075" y="964000"/>
            <a:ext cx="3406426" cy="3406426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1" name="Google Shape;81;p15"/>
          <p:cNvSpPr txBox="1"/>
          <p:nvPr/>
        </p:nvSpPr>
        <p:spPr>
          <a:xfrm>
            <a:off x="13150" y="163600"/>
            <a:ext cx="5021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3500">
                <a:solidFill>
                  <a:schemeClr val="dk1"/>
                </a:solidFill>
                <a:latin typeface="Annie Use Your Telescope"/>
                <a:ea typeface="Annie Use Your Telescope"/>
                <a:cs typeface="Annie Use Your Telescope"/>
                <a:sym typeface="Annie Use Your Telescope"/>
              </a:rPr>
              <a:t>J</a:t>
            </a:r>
            <a:r>
              <a:rPr b="1" i="1" lang="pt-BR" sz="4000">
                <a:solidFill>
                  <a:schemeClr val="dk1"/>
                </a:solidFill>
                <a:latin typeface="Annie Use Your Telescope"/>
                <a:ea typeface="Annie Use Your Telescope"/>
                <a:cs typeface="Annie Use Your Telescope"/>
                <a:sym typeface="Annie Use Your Telescope"/>
              </a:rPr>
              <a:t>ustificativas</a:t>
            </a:r>
            <a:endParaRPr b="1" i="1" sz="4000">
              <a:solidFill>
                <a:schemeClr val="dk1"/>
              </a:solidFill>
              <a:latin typeface="Annie Use Your Telescope"/>
              <a:ea typeface="Annie Use Your Telescope"/>
              <a:cs typeface="Annie Use Your Telescope"/>
              <a:sym typeface="Annie Use Your Telescope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149950" y="1059913"/>
            <a:ext cx="47475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Maior parte da população brasileira  está endividada.</a:t>
            </a:r>
            <a:endParaRPr sz="15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1500">
                <a:solidFill>
                  <a:schemeClr val="dk1"/>
                </a:solidFill>
              </a:rPr>
              <a:t>As pessoas</a:t>
            </a:r>
            <a:r>
              <a:rPr lang="pt-BR" sz="1500">
                <a:solidFill>
                  <a:schemeClr val="dk1"/>
                </a:solidFill>
              </a:rPr>
              <a:t> que não estão endividados não guardam dinheiro e os que guardam maioria está em poupança.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pt-BR" sz="1500">
                <a:solidFill>
                  <a:schemeClr val="dk1"/>
                </a:solidFill>
              </a:rPr>
              <a:t>São poucas pessoas que entendem sobre suas finança e formas de render seus dinheiros.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83" name="Google Shape;8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288" y="3582650"/>
            <a:ext cx="3552825" cy="128587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84" name="Google Shape;84;p15"/>
          <p:cNvCxnSpPr/>
          <p:nvPr/>
        </p:nvCxnSpPr>
        <p:spPr>
          <a:xfrm>
            <a:off x="-25" y="-26850"/>
            <a:ext cx="0" cy="519720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AA84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0" y="0"/>
            <a:ext cx="3746700" cy="5143500"/>
          </a:xfrm>
          <a:prstGeom prst="rect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6"/>
          <p:cNvSpPr txBox="1"/>
          <p:nvPr>
            <p:ph type="title"/>
          </p:nvPr>
        </p:nvSpPr>
        <p:spPr>
          <a:xfrm>
            <a:off x="3746700" y="56500"/>
            <a:ext cx="53973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1428"/>
              <a:buFont typeface="Arial"/>
              <a:buNone/>
            </a:pPr>
            <a:r>
              <a:rPr b="1" i="1" lang="pt-BR" sz="3500">
                <a:latin typeface="Annie Use Your Telescope"/>
                <a:ea typeface="Annie Use Your Telescope"/>
                <a:cs typeface="Annie Use Your Telescope"/>
                <a:sym typeface="Annie Use Your Telescope"/>
              </a:rPr>
              <a:t>Proposta de Soluções/Ideias</a:t>
            </a:r>
            <a:endParaRPr b="1" i="1" sz="3500">
              <a:latin typeface="Annie Use Your Telescope"/>
              <a:ea typeface="Annie Use Your Telescope"/>
              <a:cs typeface="Annie Use Your Telescope"/>
              <a:sym typeface="Annie Use Your Telesc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 txBox="1"/>
          <p:nvPr/>
        </p:nvSpPr>
        <p:spPr>
          <a:xfrm>
            <a:off x="3746700" y="778450"/>
            <a:ext cx="53973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App para ajudar no controle financeiro;</a:t>
            </a:r>
            <a:endParaRPr sz="1500"/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Portal de </a:t>
            </a:r>
            <a:r>
              <a:rPr lang="pt-BR" sz="1500"/>
              <a:t>notícias</a:t>
            </a:r>
            <a:r>
              <a:rPr lang="pt-BR" sz="1500"/>
              <a:t> sobre </a:t>
            </a:r>
            <a:r>
              <a:rPr lang="pt-BR" sz="1500"/>
              <a:t>finanças;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App/Site para simplificar o Homebroker (bolsa)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Wikipédia ou similar sobre ed. financeira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 txBox="1"/>
          <p:nvPr/>
        </p:nvSpPr>
        <p:spPr>
          <a:xfrm>
            <a:off x="3746700" y="2348613"/>
            <a:ext cx="5397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3500">
                <a:solidFill>
                  <a:schemeClr val="dk1"/>
                </a:solidFill>
                <a:latin typeface="Annie Use Your Telescope"/>
                <a:ea typeface="Annie Use Your Telescope"/>
                <a:cs typeface="Annie Use Your Telescope"/>
                <a:sym typeface="Annie Use Your Telescope"/>
              </a:rPr>
              <a:t>Objetivos</a:t>
            </a:r>
            <a:endParaRPr/>
          </a:p>
        </p:txBody>
      </p:sp>
      <p:pic>
        <p:nvPicPr>
          <p:cNvPr id="93" name="Google Shape;9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038" y="499700"/>
            <a:ext cx="3088575" cy="17296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4" name="Google Shape;94;p16"/>
          <p:cNvSpPr txBox="1"/>
          <p:nvPr/>
        </p:nvSpPr>
        <p:spPr>
          <a:xfrm>
            <a:off x="3746700" y="3309550"/>
            <a:ext cx="5397300" cy="17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Ajudar pessoas que não tiveram uma boa </a:t>
            </a:r>
            <a:r>
              <a:rPr lang="pt-BR" sz="1500"/>
              <a:t>educação</a:t>
            </a:r>
            <a:r>
              <a:rPr lang="pt-BR" sz="1500"/>
              <a:t> financeira;</a:t>
            </a:r>
            <a:endParaRPr sz="1500"/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Melhorar vida </a:t>
            </a:r>
            <a:r>
              <a:rPr lang="pt-BR" sz="1500"/>
              <a:t>financeira</a:t>
            </a:r>
            <a:r>
              <a:rPr lang="pt-BR" sz="1500"/>
              <a:t>  das pessoas;</a:t>
            </a:r>
            <a:endParaRPr sz="1500"/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P</a:t>
            </a:r>
            <a:r>
              <a:rPr lang="pt-BR" sz="1500"/>
              <a:t>essoas</a:t>
            </a:r>
            <a:r>
              <a:rPr lang="pt-BR" sz="1500"/>
              <a:t> </a:t>
            </a:r>
            <a:r>
              <a:rPr lang="pt-BR" sz="1500"/>
              <a:t>endividadas</a:t>
            </a:r>
            <a:r>
              <a:rPr lang="pt-BR" sz="1500"/>
              <a:t> quitarem suas </a:t>
            </a:r>
            <a:r>
              <a:rPr lang="pt-BR" sz="1500"/>
              <a:t>dívidas;</a:t>
            </a:r>
            <a:endParaRPr sz="1500"/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Ajudar no controle financeiro;</a:t>
            </a:r>
            <a:endParaRPr sz="1500"/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começar </a:t>
            </a:r>
            <a:r>
              <a:rPr lang="pt-BR" sz="1500"/>
              <a:t> </a:t>
            </a:r>
            <a:r>
              <a:rPr lang="pt-BR" sz="1500"/>
              <a:t>investir</a:t>
            </a:r>
            <a:r>
              <a:rPr lang="pt-BR" sz="1500"/>
              <a:t> e </a:t>
            </a:r>
            <a:r>
              <a:rPr lang="pt-BR" sz="1500"/>
              <a:t>economizar.</a:t>
            </a:r>
            <a:endParaRPr sz="1500"/>
          </a:p>
        </p:txBody>
      </p:sp>
      <p:pic>
        <p:nvPicPr>
          <p:cNvPr id="95" name="Google Shape;9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062" y="2834125"/>
            <a:ext cx="3088575" cy="18992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96" name="Google Shape;96;p16"/>
          <p:cNvCxnSpPr/>
          <p:nvPr/>
        </p:nvCxnSpPr>
        <p:spPr>
          <a:xfrm>
            <a:off x="-25" y="-26850"/>
            <a:ext cx="0" cy="519720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AA84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/>
          <p:nvPr/>
        </p:nvSpPr>
        <p:spPr>
          <a:xfrm>
            <a:off x="4950" y="0"/>
            <a:ext cx="9144000" cy="1353000"/>
          </a:xfrm>
          <a:prstGeom prst="rect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7"/>
          <p:cNvSpPr txBox="1"/>
          <p:nvPr/>
        </p:nvSpPr>
        <p:spPr>
          <a:xfrm>
            <a:off x="0" y="0"/>
            <a:ext cx="9144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pt-BR" sz="4000">
                <a:solidFill>
                  <a:schemeClr val="dk1"/>
                </a:solidFill>
                <a:latin typeface="Annie Use Your Telescope"/>
                <a:ea typeface="Annie Use Your Telescope"/>
                <a:cs typeface="Annie Use Your Telescope"/>
                <a:sym typeface="Annie Use Your Telescope"/>
              </a:rPr>
              <a:t>Protótipo Interativo</a:t>
            </a:r>
            <a:endParaRPr b="1" i="1" sz="4000">
              <a:solidFill>
                <a:schemeClr val="dk1"/>
              </a:solidFill>
              <a:latin typeface="Annie Use Your Telescope"/>
              <a:ea typeface="Annie Use Your Telescope"/>
              <a:cs typeface="Annie Use Your Telescope"/>
              <a:sym typeface="Annie Use Your Telescope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NOME DO SITE: SAVEMONEY</a:t>
            </a:r>
            <a:endParaRPr sz="2000"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03" name="Google Shape;103;p17"/>
          <p:cNvPicPr preferRelativeResize="0"/>
          <p:nvPr/>
        </p:nvPicPr>
        <p:blipFill rotWithShape="1">
          <a:blip r:embed="rId3">
            <a:alphaModFix/>
          </a:blip>
          <a:srcRect b="1941" l="1254" r="1526" t="2902"/>
          <a:stretch/>
        </p:blipFill>
        <p:spPr>
          <a:xfrm>
            <a:off x="125950" y="1904525"/>
            <a:ext cx="4368300" cy="2775900"/>
          </a:xfrm>
          <a:prstGeom prst="roundRect">
            <a:avLst>
              <a:gd fmla="val 13665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4" name="Google Shape;10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2050" y="1904525"/>
            <a:ext cx="4368300" cy="2775900"/>
          </a:xfrm>
          <a:prstGeom prst="roundRect">
            <a:avLst>
              <a:gd fmla="val 7306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5" name="Google Shape;105;p17"/>
          <p:cNvSpPr txBox="1"/>
          <p:nvPr/>
        </p:nvSpPr>
        <p:spPr>
          <a:xfrm>
            <a:off x="125950" y="1504325"/>
            <a:ext cx="436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Login</a:t>
            </a:r>
            <a:endParaRPr/>
          </a:p>
        </p:txBody>
      </p:sp>
      <p:sp>
        <p:nvSpPr>
          <p:cNvPr id="106" name="Google Shape;106;p17"/>
          <p:cNvSpPr txBox="1"/>
          <p:nvPr/>
        </p:nvSpPr>
        <p:spPr>
          <a:xfrm>
            <a:off x="4672050" y="1504313"/>
            <a:ext cx="436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Home-Page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AA84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3200" y="2242725"/>
            <a:ext cx="4325400" cy="2795400"/>
          </a:xfrm>
          <a:prstGeom prst="roundRect">
            <a:avLst>
              <a:gd fmla="val 6733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2" name="Google Shape;11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900" y="542550"/>
            <a:ext cx="4330800" cy="2795400"/>
          </a:xfrm>
          <a:prstGeom prst="roundRect">
            <a:avLst>
              <a:gd fmla="val 7781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3" name="Google Shape;113;p18"/>
          <p:cNvSpPr txBox="1"/>
          <p:nvPr/>
        </p:nvSpPr>
        <p:spPr>
          <a:xfrm>
            <a:off x="110625" y="142350"/>
            <a:ext cx="432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Perfil</a:t>
            </a:r>
            <a:endParaRPr/>
          </a:p>
        </p:txBody>
      </p:sp>
      <p:sp>
        <p:nvSpPr>
          <p:cNvPr id="114" name="Google Shape;114;p18"/>
          <p:cNvSpPr txBox="1"/>
          <p:nvPr/>
        </p:nvSpPr>
        <p:spPr>
          <a:xfrm>
            <a:off x="4636525" y="1842525"/>
            <a:ext cx="433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Carteira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AA84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8501" y="552100"/>
            <a:ext cx="6725400" cy="4346100"/>
          </a:xfrm>
          <a:prstGeom prst="roundRect">
            <a:avLst>
              <a:gd fmla="val 718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20" name="Google Shape;120;p19"/>
          <p:cNvCxnSpPr/>
          <p:nvPr/>
        </p:nvCxnSpPr>
        <p:spPr>
          <a:xfrm rot="10800000">
            <a:off x="-64825" y="5130550"/>
            <a:ext cx="9302400" cy="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" name="Google Shape;121;p19"/>
          <p:cNvCxnSpPr/>
          <p:nvPr/>
        </p:nvCxnSpPr>
        <p:spPr>
          <a:xfrm>
            <a:off x="9144000" y="-90150"/>
            <a:ext cx="0" cy="519720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" name="Google Shape;122;p19"/>
          <p:cNvCxnSpPr/>
          <p:nvPr/>
        </p:nvCxnSpPr>
        <p:spPr>
          <a:xfrm>
            <a:off x="0" y="-90150"/>
            <a:ext cx="0" cy="519720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19"/>
          <p:cNvCxnSpPr/>
          <p:nvPr/>
        </p:nvCxnSpPr>
        <p:spPr>
          <a:xfrm rot="10800000">
            <a:off x="0" y="0"/>
            <a:ext cx="9302400" cy="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" name="Google Shape;124;p19"/>
          <p:cNvSpPr txBox="1"/>
          <p:nvPr/>
        </p:nvSpPr>
        <p:spPr>
          <a:xfrm>
            <a:off x="1288500" y="151900"/>
            <a:ext cx="672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Notícias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AA84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/>
          <p:nvPr/>
        </p:nvSpPr>
        <p:spPr>
          <a:xfrm>
            <a:off x="0" y="0"/>
            <a:ext cx="9144000" cy="1179000"/>
          </a:xfrm>
          <a:prstGeom prst="rect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0"/>
          <p:cNvSpPr txBox="1"/>
          <p:nvPr/>
        </p:nvSpPr>
        <p:spPr>
          <a:xfrm>
            <a:off x="299600" y="1384000"/>
            <a:ext cx="2798400" cy="3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Impact"/>
              <a:buChar char="●"/>
            </a:pPr>
            <a:r>
              <a:rPr lang="pt-BR" sz="2500">
                <a:latin typeface="Impact"/>
                <a:ea typeface="Impact"/>
                <a:cs typeface="Impact"/>
                <a:sym typeface="Impact"/>
              </a:rPr>
              <a:t>Github</a:t>
            </a:r>
            <a:endParaRPr sz="2500">
              <a:latin typeface="Impact"/>
              <a:ea typeface="Impact"/>
              <a:cs typeface="Impact"/>
              <a:sym typeface="Impact"/>
            </a:endParaRPr>
          </a:p>
          <a:p>
            <a:pPr indent="-3873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Impact"/>
              <a:buChar char="●"/>
            </a:pPr>
            <a:r>
              <a:rPr lang="pt-BR" sz="2500">
                <a:latin typeface="Impact"/>
                <a:ea typeface="Impact"/>
                <a:cs typeface="Impact"/>
                <a:sym typeface="Impact"/>
              </a:rPr>
              <a:t>Figma</a:t>
            </a:r>
            <a:endParaRPr sz="2500">
              <a:latin typeface="Impact"/>
              <a:ea typeface="Impact"/>
              <a:cs typeface="Impact"/>
              <a:sym typeface="Impact"/>
            </a:endParaRPr>
          </a:p>
          <a:p>
            <a:pPr indent="-3873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Impact"/>
              <a:buChar char="●"/>
            </a:pPr>
            <a:r>
              <a:rPr lang="pt-BR" sz="2500">
                <a:latin typeface="Impact"/>
                <a:ea typeface="Impact"/>
                <a:cs typeface="Impact"/>
                <a:sym typeface="Impact"/>
              </a:rPr>
              <a:t>Miro</a:t>
            </a:r>
            <a:endParaRPr sz="2500">
              <a:latin typeface="Impact"/>
              <a:ea typeface="Impact"/>
              <a:cs typeface="Impact"/>
              <a:sym typeface="Impact"/>
            </a:endParaRPr>
          </a:p>
          <a:p>
            <a:pPr indent="-3873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Impact"/>
              <a:buChar char="●"/>
            </a:pPr>
            <a:r>
              <a:rPr lang="pt-BR" sz="2500">
                <a:latin typeface="Impact"/>
                <a:ea typeface="Impact"/>
                <a:cs typeface="Impact"/>
                <a:sym typeface="Impact"/>
              </a:rPr>
              <a:t>Trello</a:t>
            </a:r>
            <a:endParaRPr sz="2500">
              <a:latin typeface="Impact"/>
              <a:ea typeface="Impact"/>
              <a:cs typeface="Impact"/>
              <a:sym typeface="Impact"/>
            </a:endParaRPr>
          </a:p>
          <a:p>
            <a:pPr indent="-3873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Impact"/>
              <a:buChar char="●"/>
            </a:pPr>
            <a:r>
              <a:rPr lang="pt-BR" sz="2500">
                <a:latin typeface="Impact"/>
                <a:ea typeface="Impact"/>
                <a:cs typeface="Impact"/>
                <a:sym typeface="Impact"/>
              </a:rPr>
              <a:t>Google Drive</a:t>
            </a:r>
            <a:endParaRPr sz="2500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31" name="Google Shape;131;p20"/>
          <p:cNvSpPr txBox="1"/>
          <p:nvPr/>
        </p:nvSpPr>
        <p:spPr>
          <a:xfrm>
            <a:off x="0" y="171150"/>
            <a:ext cx="9144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4000">
                <a:solidFill>
                  <a:schemeClr val="dk1"/>
                </a:solidFill>
                <a:latin typeface="Annie Use Your Telescope"/>
                <a:ea typeface="Annie Use Your Telescope"/>
                <a:cs typeface="Annie Use Your Telescope"/>
                <a:sym typeface="Annie Use Your Telescope"/>
              </a:rPr>
              <a:t>Metodologias</a:t>
            </a:r>
            <a:endParaRPr b="1" i="1" sz="4000">
              <a:solidFill>
                <a:schemeClr val="dk1"/>
              </a:solidFill>
              <a:latin typeface="Annie Use Your Telescope"/>
              <a:ea typeface="Annie Use Your Telescope"/>
              <a:cs typeface="Annie Use Your Telescope"/>
              <a:sym typeface="Annie Use Your Telescope"/>
            </a:endParaRPr>
          </a:p>
        </p:txBody>
      </p:sp>
      <p:pic>
        <p:nvPicPr>
          <p:cNvPr id="132" name="Google Shape;13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8000" y="1384000"/>
            <a:ext cx="2105353" cy="1179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3" name="Google Shape;13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23650" y="1383988"/>
            <a:ext cx="2105350" cy="1179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4" name="Google Shape;13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98000" y="3467600"/>
            <a:ext cx="2105350" cy="1179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35" name="Google Shape;135;p20"/>
          <p:cNvCxnSpPr/>
          <p:nvPr/>
        </p:nvCxnSpPr>
        <p:spPr>
          <a:xfrm>
            <a:off x="-25" y="-26850"/>
            <a:ext cx="0" cy="519720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36" name="Google Shape;13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23650" y="3467600"/>
            <a:ext cx="2105350" cy="1178996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7" name="Google Shape;13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09800" y="2444050"/>
            <a:ext cx="2105402" cy="117902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AA84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2" name="Google Shape;142;p21"/>
          <p:cNvCxnSpPr/>
          <p:nvPr/>
        </p:nvCxnSpPr>
        <p:spPr>
          <a:xfrm flipH="1" rot="10800000">
            <a:off x="-246150" y="-155425"/>
            <a:ext cx="5104500" cy="286320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" name="Google Shape;143;p21"/>
          <p:cNvCxnSpPr/>
          <p:nvPr/>
        </p:nvCxnSpPr>
        <p:spPr>
          <a:xfrm>
            <a:off x="-272075" y="2435725"/>
            <a:ext cx="5026800" cy="283740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" name="Google Shape;144;p21"/>
          <p:cNvCxnSpPr/>
          <p:nvPr/>
        </p:nvCxnSpPr>
        <p:spPr>
          <a:xfrm flipH="1" rot="10800000">
            <a:off x="4469800" y="2538175"/>
            <a:ext cx="4770000" cy="264420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" name="Google Shape;145;p21"/>
          <p:cNvCxnSpPr/>
          <p:nvPr/>
        </p:nvCxnSpPr>
        <p:spPr>
          <a:xfrm>
            <a:off x="4379100" y="-129550"/>
            <a:ext cx="4914300" cy="280230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" name="Google Shape;146;p21"/>
          <p:cNvSpPr txBox="1"/>
          <p:nvPr/>
        </p:nvSpPr>
        <p:spPr>
          <a:xfrm>
            <a:off x="0" y="2167650"/>
            <a:ext cx="91440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i="1" lang="pt-BR" sz="4050">
                <a:solidFill>
                  <a:schemeClr val="dk1"/>
                </a:solidFill>
                <a:latin typeface="Annie Use Your Telescope"/>
                <a:ea typeface="Annie Use Your Telescope"/>
                <a:cs typeface="Annie Use Your Telescope"/>
                <a:sym typeface="Annie Use Your Telescope"/>
              </a:rPr>
              <a:t>Obrigado!</a:t>
            </a:r>
            <a:endParaRPr/>
          </a:p>
        </p:txBody>
      </p:sp>
      <p:pic>
        <p:nvPicPr>
          <p:cNvPr id="147" name="Google Shape;14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9034306">
            <a:off x="-1276349" y="3665431"/>
            <a:ext cx="5420099" cy="3166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9048218">
            <a:off x="5125428" y="3487569"/>
            <a:ext cx="5905791" cy="3807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775445">
            <a:off x="-2270300" y="-2258925"/>
            <a:ext cx="6581825" cy="394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792793">
            <a:off x="4809624" y="-1388523"/>
            <a:ext cx="5917476" cy="2943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